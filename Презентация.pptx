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0338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Моя тема — №13, сервис заявок технической поддержки. Я исследовал, как устроен жизненный цикл заявки, спроектировал сервис, написал его на JavaScript и проверил тестами. Выступление займёт около 6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знакома каждому: обращения приходят из разных каналов и теряются. Нет приоритетов и нет истории изменений. Поэтому цель проекта — единый простой сервис, где заявка проходит понятный путь от создания до закрытия. Целевая аудитория: те, кто создаёт заявки, и те, кто их обрабатывает.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рассмотрел три известных решения. Jira и Zendesk мощные, но сложные или платные. osTicket бесплатный, но требует сервер и базу данных. Поэтому я сделал свой лёгкий вариант, который запускается в браузере. Его ограничения я знаю: нет ролей и данные хранятся локально.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Требований у меня шесть функциональных и три нефункциональных. Главное — создание заявки, приоритеты, статусы с контролем переходов, поиск и история. Критерий приёмки простой: все восемь тестов проходят.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основных сценария: создание заявки, её обработка специалистом и контроль со стороны руководителя. В каждом случае ошибки ввода и недопустимые действия блокируются понятным сообщением.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выбрал инкрементную модель жизненного цикла. Сначала сделал создание заявок, затем статусы и историю, потом поиск и в конце статистику и тесты. Логика вынесена в отдельные функции, поэтому тесты запускаются без браузера.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ключевых алгоритма. Первый — контроль переходов: из каждого статуса разрешены только определённые следующие. Второй — поиск: проходим циклом по массиву, фильтруем и сортируем по приоритету. Здесь применены темы лекций: циклы, функции, массивы, строки и структуры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работающее приложение по плану справа. Если демонстрация не открывается, используйте скриншоты из папки screenshots в репозитории.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написал восемь тестов: четыре основных, два на ошибочный ввод и два граничных. Для каждого зафиксированы ожидаемый и фактический результат, все прошли. Полный протокол есть в README и в файле results.txt. Тесты проверяют логику; интерфейс я проверял вручную.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сервис работает и покрыт тестами. Все работы по проекту выполнены мной. Дальше можно добавить роли, авторизацию, уведомления и серверную базу данных. Спасибо за внимание,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441"/>
            <a:ext cx="10566400" cy="4424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441"/>
            <a:ext cx="10566400" cy="4424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2146399"/>
            <a:ext cx="6905071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i="0" dirty="0">
                <a:solidFill>
                  <a:schemeClr val="bg2">
                    <a:lumMod val="10000"/>
                  </a:schemeClr>
                </a:solidFill>
              </a:rPr>
              <a:t>Сервис заявок технической поддержки</a:t>
            </a:r>
            <a:endParaRPr lang="en-US" sz="48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95354" y="5410200"/>
            <a:ext cx="89519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 · Мини-проект №13 · Языки и технология программирования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95354" y="5791200"/>
            <a:ext cx="1088339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Выполнил: Джалалов Байрам </a:t>
            </a:r>
            <a:endParaRPr lang="en-US" sz="18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Группа: ИС 25-21</a:t>
            </a:r>
            <a:endParaRPr lang="en-US" sz="18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813" y="804161"/>
            <a:ext cx="4494085" cy="40446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и актуальность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4" y="1572816"/>
            <a:ext cx="10563225" cy="1786731"/>
          </a:xfrm>
          <a:prstGeom prst="roundRect">
            <a:avLst>
              <a:gd name="adj" fmla="val 5509"/>
            </a:avLst>
          </a:prstGeom>
          <a:solidFill>
            <a:srgbClr val="FFFFFF"/>
          </a:solidFill>
          <a:ln w="6350">
            <a:solidFill>
              <a:srgbClr val="D9DC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804591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Заявки теряются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2167731"/>
            <a:ext cx="3021711" cy="98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Обращения приходят в мессенджеры, на почту и устно. Единого списка нет, часть заявок забывается.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29150" y="1804591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приоритетов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29150" y="2167731"/>
            <a:ext cx="3021711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Критичная поломка ждёт наравне с мелким вопросом. Очерёдность определяется на глаз.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10550" y="1804591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истории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10550" y="2167731"/>
            <a:ext cx="3021711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Неясно, кто и когда изменил статус. Трудно разобрать спорные случаи и оценить нагрузку.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799" y="3616722"/>
            <a:ext cx="10566399" cy="1540371"/>
          </a:xfrm>
          <a:prstGeom prst="roundRect">
            <a:avLst>
              <a:gd name="adj" fmla="val 6596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/>
          <p:nvPr/>
        </p:nvSpPr>
        <p:spPr>
          <a:xfrm>
            <a:off x="1041400" y="3845322"/>
            <a:ext cx="487921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41400" y="4208463"/>
            <a:ext cx="4879213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любой организации с компьютерами и сетью возникают обращения. Учёт заявок сокращает время реакции и делает работу поддержки прозрачной.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13500" y="3845322"/>
            <a:ext cx="4879213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аудитория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13500" y="4208463"/>
            <a:ext cx="4879213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лёгкий веб-сервис для приёма и обработки заявок. Создают заявки сотрудники и студенты, обрабатывают специалисты поддержки.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аналогов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82341"/>
          <a:ext cx="10553700" cy="3334049"/>
        </p:xfrm>
        <a:graphic>
          <a:graphicData uri="http://schemas.openxmlformats.org/drawingml/2006/table">
            <a:tbl>
              <a:tblPr/>
              <a:tblGrid>
                <a:gridCol w="263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Аналог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9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Сильные стороны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9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Ограничения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9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Для нашей задачи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9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7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Jira Service Management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Гибкие процессы, SLA, интеграции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Сложная настройка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Избыточен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FAE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7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Zendesk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Удобная работа с обращениями, отчёты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Платная подписка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Дорого для учебной задачи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7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osTicket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Бесплатный, открытый код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Нужны сервер, PHP и БД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Сложно развернуть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7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Наш сервис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Запуск в браузере, ничего не устанавливать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Данные только в браузере, нет ролей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Подходит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5170388"/>
            <a:ext cx="10883392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для небольшой организации и учебных целей нужен простой сервис без сервера, но с приоритетами, статусами и историей.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72816"/>
            <a:ext cx="5422900" cy="2811363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 w="6350">
            <a:solidFill>
              <a:srgbClr val="D9DC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804591"/>
            <a:ext cx="510813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 err="1" smtClean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4007" y="2167731"/>
            <a:ext cx="5044253" cy="1518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заявки с проверкой полей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Приоритет: от «Низкий» до «Критичный»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Статусы с контролем переходов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и фильтры по статусу и приоритету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изменений каждой заявки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Статистика по статусам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23025" y="1572816"/>
            <a:ext cx="4953000" cy="1573213"/>
          </a:xfrm>
          <a:prstGeom prst="roundRect">
            <a:avLst>
              <a:gd name="adj" fmla="val 6256"/>
            </a:avLst>
          </a:prstGeom>
          <a:solidFill>
            <a:srgbClr val="FFFFFF"/>
          </a:solidFill>
          <a:ln w="6350">
            <a:solidFill>
              <a:srgbClr val="D9DC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4800" y="1804591"/>
            <a:ext cx="4624134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 err="1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Нефункциональные</a:t>
            </a: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11057" y="2167731"/>
            <a:ext cx="456025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в браузере без сервера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отклик интерфейса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Сохранение данных между сеансами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19850" y="3327003"/>
            <a:ext cx="4959350" cy="1060351"/>
          </a:xfrm>
          <a:prstGeom prst="roundRect">
            <a:avLst>
              <a:gd name="adj" fmla="val 9582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/>
          <p:nvPr/>
        </p:nvSpPr>
        <p:spPr>
          <a:xfrm>
            <a:off x="6648450" y="3555603"/>
            <a:ext cx="463721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 приёмки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48450" y="3918744"/>
            <a:ext cx="463721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8 тест-кейсов выполняются со статусом PASS.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Пользовательские сценарии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72816"/>
            <a:ext cx="3397250" cy="2319734"/>
          </a:xfrm>
          <a:prstGeom prst="roundRect">
            <a:avLst>
              <a:gd name="adj" fmla="val 4243"/>
            </a:avLst>
          </a:prstGeom>
          <a:solidFill>
            <a:srgbClr val="FFFFFF"/>
          </a:solidFill>
          <a:ln w="6350">
            <a:solidFill>
              <a:srgbClr val="D9DC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804591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Создание заявки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4007" y="2167731"/>
            <a:ext cx="2957834" cy="1518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заполняет форму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проверяет поля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Заявка попадает в список со статусом «Новая»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истории появляется первая запись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97375" y="1572816"/>
            <a:ext cx="3397250" cy="2319734"/>
          </a:xfrm>
          <a:prstGeom prst="roundRect">
            <a:avLst>
              <a:gd name="adj" fmla="val 4243"/>
            </a:avLst>
          </a:prstGeom>
          <a:solidFill>
            <a:srgbClr val="FFFFFF"/>
          </a:solidFill>
          <a:ln w="6350">
            <a:solidFill>
              <a:srgbClr val="D9DC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29150" y="1804591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Обработка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85407" y="2167731"/>
            <a:ext cx="2957834" cy="1518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Специалист ищет заявку или фильтрует список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Берёт её в работу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Отмечает «Решена», затем «Закрыта»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шаг пишется в историю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78775" y="1572816"/>
            <a:ext cx="3397250" cy="2319734"/>
          </a:xfrm>
          <a:prstGeom prst="roundRect">
            <a:avLst>
              <a:gd name="adj" fmla="val 4243"/>
            </a:avLst>
          </a:prstGeom>
          <a:solidFill>
            <a:srgbClr val="FFFFFF"/>
          </a:solidFill>
          <a:ln w="6350">
            <a:solidFill>
              <a:srgbClr val="D9DC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10550" y="1804591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Контроль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66807" y="2167731"/>
            <a:ext cx="2957834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открывает список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Смотрит статистику по статусам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Раскрывает историю заявки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Видит, кто и когда менял статус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4149725"/>
            <a:ext cx="1088339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ошибке (пустая тема, недопустимый переход) система показывает сообщение и ничего не меняет.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ЖЦ и архитектура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799" y="1569641"/>
            <a:ext cx="10587839" cy="1815703"/>
          </a:xfrm>
          <a:prstGeom prst="roundRect">
            <a:avLst>
              <a:gd name="adj" fmla="val 5596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/>
        </p:nvSpPr>
        <p:spPr>
          <a:xfrm>
            <a:off x="1041400" y="1798241"/>
            <a:ext cx="303479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Инкрементная модель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097657" y="2161381"/>
            <a:ext cx="2970915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и хранение заявок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Статусы и история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и фильтры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Статистика и тесты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22800" y="1798241"/>
            <a:ext cx="303479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заявки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622800" y="2161381"/>
            <a:ext cx="3034792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тема, автор, описание, приоритет, статус, дата создания, массив history. Хранилище - массив заявок.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04200" y="1798241"/>
            <a:ext cx="303479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Модули</a:t>
            </a:r>
            <a:r>
              <a:rPr lang="en-US" sz="18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функции</a:t>
            </a:r>
            <a:r>
              <a:rPr lang="en-US" sz="18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04200" y="2161381"/>
            <a:ext cx="303479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validateTicket, createTicket, changeStatus, searchTickets, getStats и слой интерфейса.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639344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инкрементная: проект небольшой, функции добавляются по шагам, и каждый шаг можно проверить отдельно. Логика отделена от интерфейса, поэтому её легко тестировать.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алгоритмы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72816"/>
            <a:ext cx="5187950" cy="2356644"/>
          </a:xfrm>
          <a:prstGeom prst="roundRect">
            <a:avLst>
              <a:gd name="adj" fmla="val 4176"/>
            </a:avLst>
          </a:prstGeom>
          <a:solidFill>
            <a:schemeClr val="accent1"/>
          </a:solidFill>
          <a:ln w="6350">
            <a:solidFill>
              <a:srgbClr val="D9DC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804591"/>
            <a:ext cx="486613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статусов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5032" y="2167731"/>
            <a:ext cx="4761230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 → В работе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работе → Решена или Новая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Решена → Закрыта или В работе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Закрыта — конечный статус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7750" y="3251994"/>
            <a:ext cx="4866132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Допустимые переходы хранятся в объекте; иначе выбрасывается ошибка.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88075" y="1572816"/>
            <a:ext cx="5187950" cy="2356644"/>
          </a:xfrm>
          <a:prstGeom prst="roundRect">
            <a:avLst>
              <a:gd name="adj" fmla="val 4176"/>
            </a:avLst>
          </a:prstGeom>
          <a:solidFill>
            <a:schemeClr val="accent1"/>
          </a:solidFill>
          <a:ln w="6350">
            <a:solidFill>
              <a:srgbClr val="D9DC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850" y="1804591"/>
            <a:ext cx="486613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и сортировка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76107" y="2167731"/>
            <a:ext cx="4802255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 по массиву заявок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Отбор по статусу и приоритету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подстроки без учёта регистра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Сортировка: приоритет, затем новизна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4186634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ввода: тема 3-100 символов, автор от 2, описание 5-500, приоритет из списка. Использованы циклы, функции, массивы, строки и объекты.</a:t>
            </a:r>
            <a:endParaRPr lang="en-US" sz="15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975" y="4745434"/>
            <a:ext cx="5752605" cy="20296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и демонстрация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72816"/>
            <a:ext cx="5187950" cy="2070894"/>
          </a:xfrm>
          <a:prstGeom prst="roundRect">
            <a:avLst>
              <a:gd name="adj" fmla="val 4753"/>
            </a:avLst>
          </a:prstGeom>
          <a:solidFill>
            <a:schemeClr val="accent1"/>
          </a:solidFill>
          <a:ln w="6350">
            <a:solidFill>
              <a:srgbClr val="D9DC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804591"/>
            <a:ext cx="486613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видит пользователь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5032" y="2167731"/>
            <a:ext cx="4761230" cy="1269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новой заявки с сообщением об ошибке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Строка статистики по статусам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и два фильтра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Карточки заявок, цвет по приоритету</a:t>
            </a:r>
            <a:endParaRPr lang="en-US" sz="1400" dirty="0"/>
          </a:p>
          <a:p>
            <a:pPr marL="156718" indent="-1567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Кнопки смены статуса и история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88075" y="1572816"/>
            <a:ext cx="5187950" cy="2070894"/>
          </a:xfrm>
          <a:prstGeom prst="roundRect">
            <a:avLst>
              <a:gd name="adj" fmla="val 4753"/>
            </a:avLst>
          </a:prstGeom>
          <a:solidFill>
            <a:schemeClr val="accent1"/>
          </a:solidFill>
          <a:ln w="6350">
            <a:solidFill>
              <a:srgbClr val="D9DC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19850" y="1804591"/>
            <a:ext cx="486613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демонстрации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76107" y="2167731"/>
            <a:ext cx="4802255" cy="1269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Отправить пустую форму: ошибка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заявку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Перевести в «В работе»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заявку поиском</a:t>
            </a:r>
            <a:endParaRPr lang="en-US" sz="1400" dirty="0"/>
          </a:p>
          <a:p>
            <a:pPr marL="197743" indent="-197743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Открыть историю изменений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3900884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Запуск: открыть src/index.html в браузере. Данные сохраняются в localStorage.</a:t>
            </a:r>
            <a:endParaRPr lang="en-US" sz="15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975" y="4182327"/>
            <a:ext cx="3603137" cy="2561882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045" y="4664075"/>
            <a:ext cx="5303361" cy="15997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30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18"/>
              </a:lnSpc>
              <a:buNone/>
            </a:pPr>
            <a:r>
              <a:rPr lang="en-US" sz="2925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тестирования</a:t>
            </a:r>
            <a:endParaRPr lang="en-US" sz="2925" dirty="0"/>
          </a:p>
        </p:txBody>
      </p:sp>
      <p:sp>
        <p:nvSpPr>
          <p:cNvPr id="3" name="Shape 1"/>
          <p:cNvSpPr/>
          <p:nvPr/>
        </p:nvSpPr>
        <p:spPr>
          <a:xfrm>
            <a:off x="815975" y="1475383"/>
            <a:ext cx="2914650" cy="2401491"/>
          </a:xfrm>
          <a:prstGeom prst="roundRect">
            <a:avLst>
              <a:gd name="adj" fmla="val 4098"/>
            </a:avLst>
          </a:prstGeom>
          <a:solidFill>
            <a:schemeClr val="accent1"/>
          </a:solidFill>
          <a:ln w="6350">
            <a:solidFill>
              <a:srgbClr val="D9DC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707158"/>
            <a:ext cx="252463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8/8</a:t>
            </a:r>
            <a:endParaRPr lang="en-US" sz="7000" dirty="0"/>
          </a:p>
        </p:txBody>
      </p:sp>
      <p:sp>
        <p:nvSpPr>
          <p:cNvPr id="5" name="Text 3"/>
          <p:cNvSpPr/>
          <p:nvPr/>
        </p:nvSpPr>
        <p:spPr>
          <a:xfrm>
            <a:off x="1047750" y="2685058"/>
            <a:ext cx="2524633" cy="98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PASS: 4 основных, 2 ошибочного ввода, 2 граничных. Запуск: node tests/tests.js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384976"/>
              </p:ext>
            </p:extLst>
          </p:nvPr>
        </p:nvGraphicFramePr>
        <p:xfrm>
          <a:off x="4000500" y="1206249"/>
          <a:ext cx="7378701" cy="5637273"/>
        </p:xfrm>
        <a:graphic>
          <a:graphicData uri="http://schemas.openxmlformats.org/drawingml/2006/table">
            <a:tbl>
              <a:tblPr/>
              <a:tblGrid>
                <a:gridCol w="2459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9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9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Сценарий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Статус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7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T-01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Создать корректную заявку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T-02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Новая → В работе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7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T-03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Поиск без учёта регистра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7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T-04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Фильтр по приоритету, статистика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241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T-05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Пустая тема (ошибка)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37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T-06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Новая → Закрыта (ошибка)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3702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T-07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Граница: тема 100 и 101 символ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8759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T-08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Граница: пустое хранилище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 err="1" smtClean="0">
                <a:solidFill>
                  <a:schemeClr val="bg1"/>
                </a:solidFill>
              </a:rPr>
              <a:t>Вывод</a:t>
            </a:r>
            <a:r>
              <a:rPr lang="ru-RU" sz="3600" b="1" i="0" dirty="0" smtClean="0">
                <a:solidFill>
                  <a:schemeClr val="bg1"/>
                </a:solidFill>
              </a:rPr>
              <a:t>ы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82396" y="1569641"/>
            <a:ext cx="10806176" cy="1903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84404" indent="-184404" algn="l">
              <a:lnSpc>
                <a:spcPts val="2465"/>
              </a:lnSpc>
              <a:buSzPct val="100000"/>
              <a:buChar char="•"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 рабочий сервис заявок: создание, приоритеты, статусы, поиск, история</a:t>
            </a:r>
            <a:endParaRPr lang="en-US" sz="1200" dirty="0"/>
          </a:p>
          <a:p>
            <a:pPr marL="184404" indent="-184404" algn="l">
              <a:lnSpc>
                <a:spcPts val="2465"/>
              </a:lnSpc>
              <a:buSzPct val="100000"/>
              <a:buChar char="•"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Выполнены все требования: 6 функциональных и 3 нефункциональных</a:t>
            </a:r>
            <a:endParaRPr lang="en-US" sz="1200" dirty="0"/>
          </a:p>
          <a:p>
            <a:pPr marL="184404" indent="-184404" algn="l">
              <a:lnSpc>
                <a:spcPts val="2465"/>
              </a:lnSpc>
              <a:buSzPct val="100000"/>
              <a:buChar char="•"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Все 8 тест-кейсов пройдены</a:t>
            </a:r>
            <a:endParaRPr lang="en-US" sz="1200" dirty="0"/>
          </a:p>
          <a:p>
            <a:pPr marL="184404" indent="-184404" algn="l">
              <a:lnSpc>
                <a:spcPts val="2465"/>
              </a:lnSpc>
              <a:buSzPct val="100000"/>
              <a:buChar char="•"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Вклад автора: анализ, проектирование, код, тесты, README, презентация</a:t>
            </a:r>
            <a:endParaRPr lang="en-US" sz="1200" dirty="0"/>
          </a:p>
          <a:p>
            <a:pPr marL="184404" indent="-184404" algn="l">
              <a:lnSpc>
                <a:spcPts val="2465"/>
              </a:lnSpc>
              <a:buSzPct val="100000"/>
              <a:buChar char="•"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В репозитории: код, README, тесты, скриншоты</a:t>
            </a:r>
            <a:endParaRPr lang="en-US" sz="1200" dirty="0"/>
          </a:p>
          <a:p>
            <a:pPr marL="184404" indent="-184404" algn="l">
              <a:lnSpc>
                <a:spcPts val="2465"/>
              </a:lnSpc>
              <a:buSzPct val="100000"/>
              <a:buChar char="•"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Развитие: роли и авторизация, уведомления, серверная база данных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РО №13 — Сервис заявок технической поддержки">
  <a:themeElements>
    <a:clrScheme name="СРО №13 — Сервис заявок технической поддержки">
      <a:dk1>
        <a:srgbClr val="14213D"/>
      </a:dk1>
      <a:lt1>
        <a:srgbClr val="F6F4EE"/>
      </a:lt1>
      <a:dk2>
        <a:srgbClr val="4D5669"/>
      </a:dk2>
      <a:lt2>
        <a:srgbClr val="DFDFDC"/>
      </a:lt2>
      <a:accent1>
        <a:srgbClr val="E8833A"/>
      </a:accent1>
      <a:accent2>
        <a:srgbClr val="1F3160"/>
      </a:accent2>
      <a:accent3>
        <a:srgbClr val="2F5BEA"/>
      </a:accent3>
      <a:accent4>
        <a:srgbClr val="C9D1E6"/>
      </a:accent4>
      <a:accent5>
        <a:srgbClr val="9AA0A6"/>
      </a:accent5>
      <a:accent6>
        <a:srgbClr val="6E7584"/>
      </a:accent6>
      <a:hlink>
        <a:srgbClr val="0563C1"/>
      </a:hlink>
      <a:folHlink>
        <a:srgbClr val="954F72"/>
      </a:folHlink>
    </a:clrScheme>
    <a:fontScheme name="СРО №13 — Сервис заявок технической поддержки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1134</Words>
  <Application>Microsoft Office PowerPoint</Application>
  <PresentationFormat>Широкоэкранный</PresentationFormat>
  <Paragraphs>163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СРО №13 — Сервис заявок технической поддержки</vt:lpstr>
      <vt:lpstr>Сервис заявок технической поддержки</vt:lpstr>
      <vt:lpstr>Проблема и актуальность</vt:lpstr>
      <vt:lpstr>Анализ аналогов</vt:lpstr>
      <vt:lpstr>Требования</vt:lpstr>
      <vt:lpstr>Пользовательские сценарии</vt:lpstr>
      <vt:lpstr>Модель ЖЦ и архитектура</vt:lpstr>
      <vt:lpstr>Ключевые алгоритмы</vt:lpstr>
      <vt:lpstr>Интерфейс и демонстрация</vt:lpstr>
      <vt:lpstr>Результаты тестирования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СРО №13 — Сервис заявок технической поддержки</dc:title>
  <dc:subject/>
  <dc:creator/>
  <cp:lastModifiedBy>Student</cp:lastModifiedBy>
  <cp:revision>7</cp:revision>
  <dcterms:created xsi:type="dcterms:W3CDTF">2026-10-15T10:09:32Z</dcterms:created>
  <dcterms:modified xsi:type="dcterms:W3CDTF">2026-10-15T11:28:52Z</dcterms:modified>
</cp:coreProperties>
</file>